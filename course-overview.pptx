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3793"/>
    <p:restoredTop sz="94658"/>
  </p:normalViewPr>
  <p:slideViewPr>
    <p:cSldViewPr snapToGrid="0">
      <p:cViewPr varScale="1">
        <p:scale>
          <a:sx d="100" n="128"/>
          <a:sy d="100" n="128"/>
        </p:scale>
        <p:origin x="592" y="176"/>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 Id="rId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BF93-9615-E1E2-9275-26B1F75FB121}"/>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4A951E0A-F542-1684-9119-411BA0F2B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8B079261-213E-388B-245D-C6182CA6B86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613D213A-907B-3487-3FE4-FE01C0D4B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55D434-F4E1-88F2-CE19-414BF8756C9E}"/>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198157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B17F7-DCD3-71B6-DA46-0E5A922FBF34}"/>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865E7756-7C29-531C-35F3-D4E4C4647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FF31A-A896-6FF6-5945-ABA18FB77318}"/>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2401233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9710-34F2-9E09-F1DC-AD2CDE392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62402C-1DC9-088B-46C3-98A62A1B6F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CB03D1-3B1A-3890-C671-516BF31FD0C5}"/>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82C88C75-E95F-AFB1-1D7E-7F0BE66C7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C4976-3E14-84A7-6DE8-648CD84D906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79993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6B21-417A-891F-66E8-C2F97BF780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6236A6-687B-E9CB-A404-BE09BD1119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55771B-43FA-C227-C907-7F7A0A234E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08444-4106-9041-2E58-822E61E388F6}"/>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E3CBC876-081A-7AC6-D853-8DD89969A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60CBD-C4B4-CD37-BB94-BF0183A4D962}"/>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8698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6CA1-2924-30D1-EBE6-5AE9B288A8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40BE1A-5F36-2422-05B7-89590BA909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046B9A-8F6E-B3E1-1A22-FCA8C3979A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2190D2-AECD-7DA4-E89A-36BB157740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E8BA9-6424-DBEF-9642-F8C731CBFD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89BA8C-7639-70D3-20DC-BBE2A1E7899E}"/>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8" name="Footer Placeholder 7">
            <a:extLst>
              <a:ext uri="{FF2B5EF4-FFF2-40B4-BE49-F238E27FC236}">
                <a16:creationId xmlns:a16="http://schemas.microsoft.com/office/drawing/2014/main" id="{D4C7258B-6B83-B92C-EF1A-D5DADBE2E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85469D-F86D-9EF4-0B1B-580DADDC728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240736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90164-65FA-E414-AA90-BDF445BBAA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BD9315-2B0E-B2DB-1DDC-DD566BC19C91}"/>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4" name="Footer Placeholder 3">
            <a:extLst>
              <a:ext uri="{FF2B5EF4-FFF2-40B4-BE49-F238E27FC236}">
                <a16:creationId xmlns:a16="http://schemas.microsoft.com/office/drawing/2014/main" id="{FF181EEB-7BFF-3B12-C800-3667E6D558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7FF55E-90B5-5254-FB31-89004348051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248902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509522-525A-6EE4-3CE9-D36BA16BE4F8}"/>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3" name="Footer Placeholder 2">
            <a:extLst>
              <a:ext uri="{FF2B5EF4-FFF2-40B4-BE49-F238E27FC236}">
                <a16:creationId xmlns:a16="http://schemas.microsoft.com/office/drawing/2014/main" id="{A3213550-477B-B8F8-9701-04A149EF99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40E106-34B2-9886-469F-F6CDC60DEE84}"/>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1714713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1531-5F3A-312D-AC9F-7B3BDCF4D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008F43-97E1-AC38-CAE9-EC649A4BBB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AA748A-32A4-8E51-DC96-08A08A66A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0DC00-F9AD-5850-3266-78D34D11420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4774BCB4-9A00-98F7-FA81-E4DDE6B87B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FA3CD-3238-67B7-7CBD-79EDCC08618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567776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8AEB-22B7-3E8A-455F-8859257EC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953E66-5B31-7FD4-DC33-BB5D9C6254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84F613-E878-E57A-D376-A215497BA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4952B-DC9F-5FBD-185F-E1EA414F49E9}"/>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3CF0390A-B97B-1E83-A73F-ED69E11DB4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4974E6-4F13-AD55-A799-F5840A80A8D6}"/>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3344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7DA4-4541-03B1-D00E-2985CFCDD6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7BE872-27D3-6C47-D468-E116A0463A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268389-2737-8464-7A28-48253C6CDD3C}"/>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20C55886-0BA8-E41B-F011-58C9C25C66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CAB7D-A309-086A-8137-0AD5A83411E0}"/>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07996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63DCC5-D391-C0C0-5E1A-C359413524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084230-337A-6493-5ED5-9EA5AB3DDB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2EEC0-593D-1AC3-B555-23D9EB39E30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AC2340C0-50BC-549B-1027-04FA83F04C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471DE-3C41-411A-2972-EBA17A85AA7D}"/>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94686429"/>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02DF64-E63A-9D8A-B28F-7E64783CBB75}"/>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a:extLst>
              <a:ext uri="{FF2B5EF4-FFF2-40B4-BE49-F238E27FC236}">
                <a16:creationId xmlns:a16="http://schemas.microsoft.com/office/drawing/2014/main" id="{BA09F2D4-5C78-EE00-EB09-75BFBD210804}"/>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35680436-3131-257C-DE36-638E82AF70D9}"/>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2F6E8E23-65CA-00FF-7428-29C60488A922}"/>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966E79-9583-6112-E45D-1030719FE08B}"/>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679115D6-88B0-0A41-985D-0F75173C33A5}" type="slidenum">
              <a:rPr lang="en-US" smtClean="0"/>
              <a:t>‹#›</a:t>
            </a:fld>
            <a:endParaRPr lang="en-US"/>
          </a:p>
        </p:txBody>
      </p:sp>
    </p:spTree>
    <p:extLst>
      <p:ext uri="{BB962C8B-B14F-4D97-AF65-F5344CB8AC3E}">
        <p14:creationId xmlns:p14="http://schemas.microsoft.com/office/powerpoint/2010/main" val="2683377077"/>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j-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j-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j-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j-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j-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anvas.howard.edu/courses/64447" TargetMode="External" /><Relationship Id="rId3" Type="http://schemas.openxmlformats.org/officeDocument/2006/relationships/hyperlink" Target="mailto:nathan.alexander@howard.edu" TargetMode="External" /><Relationship Id="rId4" Type="http://schemas.openxmlformats.org/officeDocument/2006/relationships/hyperlink" Target="https://nathanalexander.youcanbook.me" TargetMode="External" /><Relationship Id="rId5" Type="http://schemas.openxmlformats.org/officeDocument/2006/relationships/hyperlink" Target="https://canvas.howard.edu/courses/64447"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pPr lvl="0" indent="0" marL="0">
              <a:buNone/>
            </a:pPr>
            <a:r>
              <a:rPr/>
              <a:t>Course overview</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pPr lvl="0" indent="0" marL="0">
              <a:buNone/>
            </a:pPr>
            <a:r>
              <a:rPr/>
              <a:t>A slightly more detailed overview.</a:t>
            </a:r>
          </a:p>
        </p:txBody>
      </p:sp>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indent="0" marL="0">
              <a:buNone/>
            </a:pPr>
            <a:r>
              <a:rPr/>
              <a:t>On the previous page, we ended with the following three points:</a:t>
            </a:r>
          </a:p>
          <a:p>
            <a:pPr lvl="0"/>
            <a:r>
              <a:rPr/>
              <a:t>The </a:t>
            </a:r>
            <a:r>
              <a:rPr b="1"/>
              <a:t>syllabus</a:t>
            </a:r>
            <a:r>
              <a:rPr/>
              <a:t> provides a high-level view of the course.</a:t>
            </a:r>
          </a:p>
          <a:p>
            <a:pPr lvl="0"/>
            <a:r>
              <a:rPr b="1"/>
              <a:t>Canvas</a:t>
            </a:r>
            <a:r>
              <a:rPr/>
              <a:t> is the go-to for submissions and provides readings and assignments.</a:t>
            </a:r>
          </a:p>
          <a:p>
            <a:pPr lvl="0"/>
            <a:r>
              <a:rPr/>
              <a:t>This </a:t>
            </a:r>
            <a:r>
              <a:rPr b="1"/>
              <a:t>course site</a:t>
            </a:r>
            <a:r>
              <a:rPr/>
              <a:t> provides technical items and code to help you complete your assignments.</a:t>
            </a:r>
          </a:p>
          <a:p>
            <a:pPr lvl="0" indent="0" marL="0">
              <a:buNone/>
            </a:pPr>
            <a:r>
              <a:rPr/>
              <a:t>We’ll focus on the syllabus, Canvas, and this companion site to get a detailed overview of our course.</a:t>
            </a:r>
          </a:p>
          <a:p>
            <a:pPr lvl="0" indent="0" marL="0">
              <a:spcBef>
                <a:spcPts val="3000"/>
              </a:spcBef>
              <a:buNone/>
            </a:pPr>
            <a:r>
              <a:rPr b="1"/>
              <a:t>Syllabus</a:t>
            </a:r>
          </a:p>
          <a:p>
            <a:pPr lvl="0" indent="0" marL="0">
              <a:buNone/>
            </a:pPr>
            <a:r>
              <a:rPr/>
              <a:t>A high-level view of the course.</a:t>
            </a:r>
          </a:p>
          <a:p>
            <a:pPr lvl="0" indent="0" marL="0">
              <a:buNone/>
            </a:pPr>
            <a:r>
              <a:rPr i="1"/>
              <a:t>Please note: this section is only a summary of our syllabus.</a:t>
            </a:r>
            <a:r>
              <a:rPr/>
              <a:t> The full syllabus is available on our Canvas site </a:t>
            </a:r>
            <a:r>
              <a:rPr>
                <a:hlinkClick r:id="rId2"/>
              </a:rPr>
              <a:t>here</a:t>
            </a:r>
            <a:r>
              <a:rPr/>
              <a:t>. I have summarized some important items found on the syllabus below:</a:t>
            </a:r>
          </a:p>
          <a:p>
            <a:pPr lvl="0" indent="0" marL="0">
              <a:buNone/>
            </a:pPr>
            <a:r>
              <a:rPr b="1"/>
              <a:t>Instructor</a:t>
            </a:r>
            <a:r>
              <a:rPr/>
              <a:t>: Nathan Alexander, PhD</a:t>
            </a:r>
          </a:p>
          <a:p>
            <a:pPr lvl="0"/>
            <a:r>
              <a:rPr/>
              <a:t>Contact information:</a:t>
            </a:r>
          </a:p>
          <a:p>
            <a:pPr lvl="1" indent="0" marL="457200">
              <a:buNone/>
            </a:pPr>
            <a:r>
              <a:rPr b="1"/>
              <a:t>Email</a:t>
            </a:r>
            <a:r>
              <a:rPr/>
              <a:t>: </a:t>
            </a:r>
            <a:r>
              <a:rPr>
                <a:hlinkClick r:id="rId3"/>
              </a:rPr>
              <a:t>nathan.alexander@howard.edu</a:t>
            </a:r>
          </a:p>
          <a:p>
            <a:pPr lvl="1" indent="0" marL="457200">
              <a:buNone/>
            </a:pPr>
            <a:r>
              <a:rPr b="1"/>
              <a:t>Office hours</a:t>
            </a:r>
            <a:r>
              <a:rPr/>
              <a:t>: By appointment at </a:t>
            </a:r>
            <a:r>
              <a:rPr>
                <a:hlinkClick r:id="rId4"/>
              </a:rPr>
              <a:t>https://nathanalexander.youcanbook.me</a:t>
            </a:r>
          </a:p>
          <a:p>
            <a:pPr lvl="0"/>
            <a:r>
              <a:rPr/>
              <a:t>Course information:</a:t>
            </a:r>
          </a:p>
          <a:p>
            <a:pPr lvl="1" indent="0" marL="457200">
              <a:buNone/>
            </a:pPr>
            <a:r>
              <a:rPr b="1"/>
              <a:t>Course meeting times</a:t>
            </a:r>
            <a:r>
              <a:rPr/>
              <a:t>: Wednesdays at 5:10pm EST (10:10pm UTC)</a:t>
            </a:r>
          </a:p>
          <a:p>
            <a:pPr lvl="1" indent="0" marL="457200">
              <a:buNone/>
            </a:pPr>
            <a:r>
              <a:rPr b="1"/>
              <a:t>Course meeting location</a:t>
            </a:r>
            <a:r>
              <a:rPr/>
              <a:t>: Zoom (see Canvas)</a:t>
            </a:r>
          </a:p>
          <a:p>
            <a:pPr lvl="0" indent="0" marL="0">
              <a:spcBef>
                <a:spcPts val="3000"/>
              </a:spcBef>
              <a:buNone/>
            </a:pPr>
            <a:r>
              <a:rPr b="1"/>
              <a:t>Canvas</a:t>
            </a:r>
          </a:p>
          <a:p>
            <a:pPr lvl="0" indent="0" marL="0">
              <a:buNone/>
            </a:pPr>
            <a:r>
              <a:rPr/>
              <a:t>Canvas is the go-to for submissions, and where you can find readings and assignment rubrics. </a:t>
            </a:r>
            <a:r>
              <a:rPr>
                <a:hlinkClick r:id="rId5"/>
              </a:rPr>
              <a:t>Here</a:t>
            </a:r>
            <a:r>
              <a:rPr/>
              <a:t> is another link to Canvas, I’ll try to drop these as often as possible. Two things about Canvas: it has your </a:t>
            </a:r>
            <a:r>
              <a:rPr b="1"/>
              <a:t>assignments</a:t>
            </a:r>
            <a:r>
              <a:rPr/>
              <a:t> and it has your </a:t>
            </a:r>
            <a:r>
              <a:rPr b="1"/>
              <a:t>readings</a:t>
            </a:r>
            <a:r>
              <a:rPr/>
              <a:t>.</a:t>
            </a:r>
          </a:p>
          <a:p>
            <a:pPr lvl="0" indent="0" marL="0">
              <a:spcBef>
                <a:spcPts val="3000"/>
              </a:spcBef>
              <a:buNone/>
            </a:pPr>
            <a:r>
              <a:rPr b="1"/>
              <a:t>Canvas has your course assignments</a:t>
            </a:r>
          </a:p>
          <a:p>
            <a:pPr lvl="0" indent="0" marL="0">
              <a:buNone/>
            </a:pPr>
            <a:r>
              <a:rPr/>
              <a:t>The three categories for </a:t>
            </a:r>
            <a:r>
              <a:rPr b="1"/>
              <a:t>assignments</a:t>
            </a:r>
            <a:r>
              <a:rPr/>
              <a:t> in this course are as follows:</a:t>
            </a:r>
          </a:p>
          <a:p>
            <a:pPr lvl="0"/>
            <a:r>
              <a:rPr b="1"/>
              <a:t>Labs reports</a:t>
            </a:r>
            <a:r>
              <a:rPr/>
              <a:t>. Three long-form lab reports [60 points]</a:t>
            </a:r>
          </a:p>
          <a:p>
            <a:pPr lvl="0"/>
            <a:r>
              <a:rPr b="1"/>
              <a:t>Homework</a:t>
            </a:r>
            <a:r>
              <a:rPr/>
              <a:t>. Various problems related to course content [10 points]</a:t>
            </a:r>
          </a:p>
          <a:p>
            <a:pPr lvl="0"/>
            <a:r>
              <a:rPr/>
              <a:t>Research papers</a:t>
            </a:r>
          </a:p>
          <a:p>
            <a:pPr lvl="0"/>
            <a:r>
              <a:rPr b="1"/>
              <a:t>Annotated Bibliography</a:t>
            </a:r>
            <a:r>
              <a:rPr/>
              <a:t>. Statistical studies [10 points]</a:t>
            </a:r>
          </a:p>
          <a:p>
            <a:pPr lvl="0"/>
            <a:r>
              <a:rPr b="1"/>
              <a:t>Final Paper</a:t>
            </a:r>
            <a:r>
              <a:rPr/>
              <a:t>. One 20-page paper [30 points]</a:t>
            </a:r>
          </a:p>
          <a:p>
            <a:pPr lvl="0" indent="0" marL="0">
              <a:spcBef>
                <a:spcPts val="3000"/>
              </a:spcBef>
              <a:buNone/>
            </a:pPr>
            <a:r>
              <a:rPr b="1"/>
              <a:t>Canvas has your readings</a:t>
            </a:r>
          </a:p>
          <a:p>
            <a:pPr lvl="0" indent="0" marL="0">
              <a:spcBef>
                <a:spcPts val="3000"/>
              </a:spcBef>
              <a:buNone/>
            </a:pPr>
            <a:r>
              <a:rPr b="1"/>
              <a:t>A few other items</a:t>
            </a:r>
          </a:p>
          <a:p>
            <a:pPr lvl="0" indent="0" marL="0">
              <a:spcBef>
                <a:spcPts val="3000"/>
              </a:spcBef>
              <a:buNone/>
            </a:pPr>
            <a:r>
              <a:rPr b="1"/>
              <a:t>Expectations</a:t>
            </a:r>
          </a:p>
          <a:p>
            <a:pPr lvl="0" indent="0" marL="0">
              <a:buNone/>
            </a:pPr>
            <a:r>
              <a:rPr/>
              <a:t>This course should be viewed as an intense but remote introduction to what we might label “critical statistics” or “social justice statistics”. It will be important that we gain both a conceptual and theoretical understanding of the various concepts we will explore, and then a technical understanding of the complex issues that relate to them. We also want to communicate our ideas. These can be difficult tasks.</a:t>
            </a:r>
          </a:p>
          <a:p>
            <a:pPr lvl="0" indent="0" marL="0">
              <a:buNone/>
            </a:pPr>
            <a:r>
              <a:rPr/>
              <a:t>But I encourage you to explore and to be creative, and to take chances. Errors should mostly remind us that there is always the backspace button. Below are some general </a:t>
            </a:r>
            <a:r>
              <a:rPr b="1"/>
              <a:t>expectations</a:t>
            </a:r>
            <a:r>
              <a:rPr/>
              <a:t> to keep us all moving forward as a community:</a:t>
            </a:r>
          </a:p>
          <a:p>
            <a:pPr lvl="0"/>
            <a:r>
              <a:rPr/>
              <a:t>Communicate early and often</a:t>
            </a:r>
          </a:p>
          <a:p>
            <a:pPr lvl="0"/>
            <a:r>
              <a:rPr/>
              <a:t>Show up to class on time</a:t>
            </a:r>
          </a:p>
          <a:p>
            <a:pPr lvl="0"/>
            <a:r>
              <a:rPr/>
              <a:t>Do not schedule other meetings during class time</a:t>
            </a:r>
          </a:p>
          <a:p>
            <a:pPr lvl="0"/>
            <a:r>
              <a:rPr/>
              <a:t>No late work will be accepted without prior discussion</a:t>
            </a:r>
          </a:p>
          <a:p>
            <a:pPr lvl="0" indent="0" marL="0">
              <a:spcBef>
                <a:spcPts val="3000"/>
              </a:spcBef>
              <a:buNone/>
            </a:pPr>
            <a:r>
              <a:rPr b="1"/>
              <a:t>Course site (this page!)</a:t>
            </a:r>
          </a:p>
          <a:p>
            <a:pPr lvl="0" indent="0" marL="0">
              <a:buNone/>
            </a:pPr>
            <a:r>
              <a:rPr/>
              <a:t>You can return to this page to remind yourself of the four parts of our course, especially when we dive deep into specific projects. This page will remain static (it will not be updated), so use it as an archive that you can return to; start in this page position if you have questions about the schedule, procedures, expectations (above) …then assignments (next).</a:t>
            </a:r>
          </a:p>
          <a:p>
            <a:pPr lvl="0" indent="0" marL="0">
              <a:spcBef>
                <a:spcPts val="3000"/>
              </a:spcBef>
              <a:buNone/>
            </a:pPr>
            <a:r>
              <a:rPr b="1"/>
              <a:t>Next up: Assignments</a:t>
            </a:r>
          </a:p>
          <a:p>
            <a:pPr lvl="0" indent="0" marL="0">
              <a:buNone/>
            </a:pPr>
            <a:r>
              <a:rPr/>
              <a:t>In the next section, we’ll start with a brief overview of assignments and dive into your first two assignments (ungraded). The HW #0 and Lab #0 assignments will serve two purposes: first, they will help introduce you to the tools we’ll use as we begin to review statistical concepts; second, they will set you up for your first graded assignment coming up in two weeks.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9" end="2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0" end="3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1" end="3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32" end="3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2026-05-14T04:56:02Z</dcterms:created>
  <dcterms:modified xsi:type="dcterms:W3CDTF">2026-05-14T04:56:02Z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