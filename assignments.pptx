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3793"/>
    <p:restoredTop sz="94658"/>
  </p:normalViewPr>
  <p:slideViewPr>
    <p:cSldViewPr snapToGrid="0">
      <p:cViewPr varScale="1">
        <p:scale>
          <a:sx d="100" n="128"/>
          <a:sy d="100" n="128"/>
        </p:scale>
        <p:origin x="592" y="176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Relationship Id="rId5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1BF93-9615-E1E2-9275-26B1F75FB1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951E0A-F542-1684-9119-411BA0F2BC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79261-213E-388B-245D-C6182CA6B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0DA58-E27F-2C42-B061-C97250AF00EF}" type="datetimeFigureOut">
              <a:rPr lang="en-US" smtClean="0"/>
              <a:t>7/26/24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3D213A-907B-3487-3FE4-FE01C0D4B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55D434-F4E1-88F2-CE19-414BF8756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15D6-88B0-0A41-985D-0F75173C3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573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FBB9D-1F6D-0FC7-0689-8914FE818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21915-03DD-6A2D-69BE-2E0D0E629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2B17F7-DCD3-71B6-DA46-0E5A922FB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0DA58-E27F-2C42-B061-C97250AF00EF}" type="datetimeFigureOut">
              <a:rPr lang="en-US" smtClean="0"/>
              <a:t>7/26/24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5E7756-7C29-531C-35F3-D4E4C4647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AFF31A-A896-6FF6-5945-ABA18FB77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15D6-88B0-0A41-985D-0F75173C3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233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39710-34F2-9E09-F1DC-AD2CDE392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2402C-1DC9-088B-46C3-98A62A1B6F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CB03D1-3B1A-3890-C671-516BF31FD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0DA58-E27F-2C42-B061-C97250AF00EF}" type="datetimeFigureOut">
              <a:rPr lang="en-US" smtClean="0"/>
              <a:t>7/26/24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88C75-E95F-AFB1-1D7E-7F0BE66C7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C4976-3E14-84A7-6DE8-648CD84D9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15D6-88B0-0A41-985D-0F75173C3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937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C6B21-417A-891F-66E8-C2F97BF78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236A6-687B-E9CB-A404-BE09BD1119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55771B-43FA-C227-C907-7F7A0A234E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E08444-4106-9041-2E58-822E61E38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0DA58-E27F-2C42-B061-C97250AF00EF}" type="datetimeFigureOut">
              <a:rPr lang="en-US" smtClean="0"/>
              <a:t>7/26/24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CBC876-081A-7AC6-D853-8DD89969A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660CBD-C4B4-CD37-BB94-BF0183A4D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15D6-88B0-0A41-985D-0F75173C3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981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A6CA1-2924-30D1-EBE6-5AE9B288A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40BE1A-5F36-2422-05B7-89590BA909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046B9A-8F6E-B3E1-1A22-FCA8C3979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2190D2-AECD-7DA4-E89A-36BB157740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AE8BA9-6424-DBEF-9642-F8C731CBFD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89BA8C-7639-70D3-20DC-BBE2A1E78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0DA58-E27F-2C42-B061-C97250AF00EF}" type="datetimeFigureOut">
              <a:rPr lang="en-US" smtClean="0"/>
              <a:t>7/26/24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C7258B-6B83-B92C-EF1A-D5DADBE2E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85469D-F86D-9EF4-0B1B-580DADDC7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15D6-88B0-0A41-985D-0F75173C3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736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90164-65FA-E414-AA90-BDF445BBA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BD9315-2B0E-B2DB-1DDC-DD566BC19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0DA58-E27F-2C42-B061-C97250AF00EF}" type="datetimeFigureOut">
              <a:rPr lang="en-US" smtClean="0"/>
              <a:t>7/26/24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181EEB-7BFF-3B12-C800-3667E6D55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7FF55E-90B5-5254-FB31-890043480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15D6-88B0-0A41-985D-0F75173C3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02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509522-525A-6EE4-3CE9-D36BA16BE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0DA58-E27F-2C42-B061-C97250AF00EF}" type="datetimeFigureOut">
              <a:rPr lang="en-US" smtClean="0"/>
              <a:t>7/26/24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213550-477B-B8F8-9701-04A149EF9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40E106-34B2-9886-469F-F6CDC60DE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15D6-88B0-0A41-985D-0F75173C3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713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81531-5F3A-312D-AC9F-7B3BDCF4D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008F43-97E1-AC38-CAE9-EC649A4BB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AA748A-32A4-8E51-DC96-08A08A66A8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F0DC00-F9AD-5850-3266-78D34D114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0DA58-E27F-2C42-B061-C97250AF00EF}" type="datetimeFigureOut">
              <a:rPr lang="en-US" smtClean="0"/>
              <a:t>7/26/24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74BCB4-9A00-98F7-FA81-E4DDE6B87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2FA3CD-3238-67B7-7CBD-79EDCC086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15D6-88B0-0A41-985D-0F75173C3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776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98AEB-22B7-3E8A-455F-8859257EC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953E66-5B31-7FD4-DC33-BB5D9C6254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84F613-E878-E57A-D376-A215497BAB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4952B-DC9F-5FBD-185F-E1EA414F4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0DA58-E27F-2C42-B061-C97250AF00EF}" type="datetimeFigureOut">
              <a:rPr lang="en-US" smtClean="0"/>
              <a:t>7/26/24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F0390A-B97B-1E83-A73F-ED69E11DB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4974E6-4F13-AD55-A799-F5840A80A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15D6-88B0-0A41-985D-0F75173C3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43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67DA4-4541-03B1-D00E-2985CFCDD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7BE872-27D3-6C47-D468-E116A0463A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268389-2737-8464-7A28-48253C6CD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0DA58-E27F-2C42-B061-C97250AF00EF}" type="datetimeFigureOut">
              <a:rPr lang="en-US" smtClean="0"/>
              <a:t>7/26/24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C55886-0BA8-E41B-F011-58C9C25C6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DCAB7D-A309-086A-8137-0AD5A8341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15D6-88B0-0A41-985D-0F75173C3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963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63DCC5-D391-C0C0-5E1A-C359413524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084230-337A-6493-5ED5-9EA5AB3DDB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72EEC0-593D-1AC3-B555-23D9EB39E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0DA58-E27F-2C42-B061-C97250AF00EF}" type="datetimeFigureOut">
              <a:rPr lang="en-US" smtClean="0"/>
              <a:t>7/26/24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2340C0-50BC-549B-1027-04FA83F04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3471DE-3C41-411A-2972-EBA17A85A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115D6-88B0-0A41-985D-0F75173C3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86429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02DF64-E63A-9D8A-B28F-7E64783CB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dirty="0"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09F2D4-5C78-EE00-EB09-75BFBD210804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680436-3131-257C-DE36-638E82AF70D9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30DA58-E27F-2C42-B061-C97250AF00EF}" type="datetimeFigureOut">
              <a:rPr lang="en-US" smtClean="0"/>
              <a:t>7/26/24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6E8E23-65CA-00FF-7428-29C60488A922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66E79-9583-6112-E45D-1030719FE08B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9115D6-88B0-0A41-985D-0F75173C3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377077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j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j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j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j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j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youtube.com/watch?v=pUe_iD7RJvo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81531-5F3A-312D-AC9F-7B3BDCF4D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Assignments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AA748A-32A4-8E51-DC96-08A08A66A8CF}"/>
              </a:ext>
            </a:extLst>
          </p:cNvPr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page contains three sections:</a:t>
            </a:r>
          </a:p>
          <a:p>
            <a:pPr lvl="0"/>
            <a:r>
              <a:rPr/>
              <a:t>Brief overview of all </a:t>
            </a:r>
            <a:r>
              <a:rPr b="1"/>
              <a:t>course assignments</a:t>
            </a:r>
            <a:r>
              <a:rPr/>
              <a:t>.</a:t>
            </a:r>
          </a:p>
          <a:p>
            <a:pPr lvl="0"/>
            <a:r>
              <a:rPr/>
              <a:t>Information about </a:t>
            </a:r>
            <a:r>
              <a:rPr b="1"/>
              <a:t>lab 0</a:t>
            </a:r>
            <a:r>
              <a:rPr/>
              <a:t> (ungraded).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Overview of course assignments</a:t>
            </a:r>
          </a:p>
          <a:p>
            <a:pPr lvl="0" indent="0" marL="0">
              <a:buNone/>
            </a:pPr>
            <a:r>
              <a:rPr/>
              <a:t>Our course assignments will be split between reading and typing (code and analytic results).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5181600" y="977900"/>
          <a:ext cx="6172200" cy="4864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Course 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Assignment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Date(s)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Part I: Statistics and society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Lab #0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Due: Tue Aug 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Lab #1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Due: Sun Sept 21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Part II: Data and people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Lab #2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Due: Sun Oct 12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Part III: Data and policy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Lab #3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Due: Tues Nov 18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Part IV: Data in practice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Final paper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Due: Sun Nov 30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</a:tbl>
          </a:graphicData>
        </a:graphic>
      </p:graphicFrame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21915-03DD-6A2D-69BE-2E0D0E629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Homework 0</a:t>
            </a:r>
          </a:p>
          <a:p>
            <a:pPr lvl="0" indent="0" marL="0">
              <a:buNone/>
            </a:pPr>
            <a:r>
              <a:rPr/>
              <a:t>Below are a few sample exercises of the types of problems we’ll explore in class. This work is ungraded, and while there is no prerequisite for this course, these problems should serve as a review and a preview of content that we’ll explore for the course. Please do not hesitate to reach out with questions.</a:t>
            </a:r>
          </a:p>
          <a:p>
            <a:pPr lvl="0" indent="0" marL="0">
              <a:buNone/>
            </a:pPr>
            <a:r>
              <a:rPr b="1"/>
              <a:t>Exercise 0.1</a:t>
            </a:r>
            <a:r>
              <a:rPr/>
              <a:t>. If an individual’s projected income is to be converted to a z-score, which of these z-scores would a “rational agent” prefer: -2.00, -1.00, 0, 1.00, or 2.00? What is a “rational agent”? Explain why the “rational agent” would prefer the z-score you selected? Cite any sources.</a:t>
            </a:r>
          </a:p>
          <a:p>
            <a:pPr lvl="0" indent="0" marL="0">
              <a:buNone/>
            </a:pPr>
            <a:r>
              <a:rPr b="1"/>
              <a:t>Exercise 0.2</a:t>
            </a:r>
            <a:r>
              <a:rPr/>
              <a:t>. What is an integer? What is the sum of the first 100 positive integers? Explain your solution. Cite any sources. Bonus points (but definitely not required for our course): write a proof of the solution.</a:t>
            </a:r>
          </a:p>
          <a:p>
            <a:pPr lvl="0" indent="0" marL="0">
              <a:buNone/>
            </a:pPr>
            <a:r>
              <a:rPr b="1"/>
              <a:t>Exercise 0.3</a:t>
            </a:r>
            <a:r>
              <a:rPr/>
              <a:t>. Have you ever heard of p-hacking? P-hacking is where a researcher conducts multiple tests and only reports the significant results from those tests. What are some main issues here?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Lab 0</a:t>
            </a:r>
          </a:p>
          <a:p>
            <a:pPr lvl="0" indent="0" marL="0">
              <a:buNone/>
            </a:pPr>
            <a:r>
              <a:rPr/>
              <a:t>For your first lab, you will install two software programs on your local machine: the first is base R and the second is the RStudio Integrated Development Environment, or IDE. Both programs are required.</a:t>
            </a:r>
          </a:p>
          <a:p>
            <a:pPr lvl="0" indent="0" marL="1270000">
              <a:buNone/>
            </a:pPr>
            <a:r>
              <a:rPr sz="2000" b="1"/>
              <a:t>You must download both R and RStudio!</a:t>
            </a:r>
          </a:p>
          <a:p>
            <a:pPr lvl="0" indent="0" marL="1270000">
              <a:buNone/>
            </a:pPr>
            <a:r>
              <a:rPr sz="2000"/>
              <a:t>In order to complete assignments, you must download base R and RStudio to your computer.</a:t>
            </a:r>
          </a:p>
          <a:p>
            <a:pPr lvl="0" indent="0" marL="0">
              <a:buNone/>
            </a:pPr>
            <a:r>
              <a:rPr/>
              <a:t>RStudio is now called Posit. When you are searching online you will begin to see language differences.</a:t>
            </a:r>
          </a:p>
          <a:p>
            <a:pPr lvl="0" indent="0" marL="0">
              <a:buNone/>
            </a:pPr>
            <a:r>
              <a:rPr/>
              <a:t>It can all get very confusing. In order to reduce confusion, I am requesting that you watch </a:t>
            </a:r>
            <a:r>
              <a:rPr>
                <a:hlinkClick r:id="rId2"/>
              </a:rPr>
              <a:t>this short tutorial</a:t>
            </a:r>
            <a:r>
              <a:rPr/>
              <a:t> so that we’re all on the same page. I will discuss this more when we meet.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Next up: Computing</a:t>
            </a:r>
          </a:p>
          <a:p>
            <a:pPr lvl="0" indent="0" marL="0">
              <a:buNone/>
            </a:pPr>
            <a:r>
              <a:rPr/>
              <a:t>On the next page, I will walk you through downloading the appropriate software for our work this term.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2026-05-14T04:56:01Z</dcterms:created>
  <dcterms:modified xsi:type="dcterms:W3CDTF">2026-05-14T04:56:01Z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header-includes">
    <vt:lpwstr/>
  </property>
  <property fmtid="{D5CDD505-2E9C-101B-9397-08002B2CF9AE}" pid="4" name="include-after">
    <vt:lpwstr/>
  </property>
  <property fmtid="{D5CDD505-2E9C-101B-9397-08002B2CF9AE}" pid="5" name="include-before">
    <vt:lpwstr/>
  </property>
  <property fmtid="{D5CDD505-2E9C-101B-9397-08002B2CF9AE}" pid="6" name="labels">
    <vt:lpwstr/>
  </property>
  <property fmtid="{D5CDD505-2E9C-101B-9397-08002B2CF9AE}" pid="7" name="toc-title">
    <vt:lpwstr>Table of contents</vt:lpwstr>
  </property>
</Properties>
</file>